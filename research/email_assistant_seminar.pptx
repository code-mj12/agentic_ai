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79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1"/>
    <p:restoredTop sz="94593"/>
  </p:normalViewPr>
  <p:slideViewPr>
    <p:cSldViewPr snapToGrid="0" snapToObjects="1">
      <p:cViewPr>
        <p:scale>
          <a:sx n="154" d="100"/>
          <a:sy n="154" d="100"/>
        </p:scale>
        <p:origin x="3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475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6BB9D-2D2D-1D0E-9E44-E192193EC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3D82B-8733-C703-3291-8559B85D6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2B51E-1F81-9DD6-50B6-11F38828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B76CC-4D60-12BF-4D97-A2584F2A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64D8F-6BF4-221D-5BA8-7B681BDB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1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E24E-9DB1-3C20-D3F2-EB618EA0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F91F2-0A15-BF43-A226-DCEFA66B6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E1362-FFA4-CF35-3A5F-707BAAE1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9817-E174-8E03-659F-9194A6EC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34CE6-3E60-0E3F-78E5-1CA81F1A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7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28F0-42C5-3206-40C7-A1456F9D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DB2C0-1D90-7E6D-A86C-D1A906B82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1CF02-DB6C-582F-D3F9-6B07CCE3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B870-3D93-4BC1-1D70-8E4A84BD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A1F12-293B-24F5-CF0C-50629525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1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CB4B-6780-4909-B3A2-E6D215E6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33709-92D1-FEAE-840E-56CDA8CE6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ED1F3-5C2E-69B6-DDE8-C46867CC1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5746A-AB54-F93A-4B0B-C419B512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AB55F-6533-7EED-2799-84E207B0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8197C-ECD7-1E51-32F4-046D90A9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3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AF55C-0517-EBCB-B90E-537D50C5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67669-B5E1-27E1-5747-99404EF01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B1BFA-7E9E-3270-1968-DA8B72BCB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E4BC4-4C0A-B668-B8F5-593C39FE5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63C9A-7D78-B9FF-D368-6FDCDCCFC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ADEC1-881C-0219-524D-53E3C6D0C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6C6DB4-8B83-AE85-2075-0FFEFA18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F1782-3D5D-3560-C374-853B7DB7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82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91D2-A240-E4D4-D6AB-246377F4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7BDF0-1FDB-0D97-9D78-07642C92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1DED9-E338-E72D-F412-295261EA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27AA3-D0B7-9038-5A81-CDAF6C90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6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21740-E8C7-2877-73F5-19B6CFC6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9FB334-07A2-8F73-4EB0-1D94F414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1E72C-4803-721D-6EF1-58C8FB6D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9362-CD2A-54D9-0240-292DBD45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2152-2AED-FD8F-74B2-4B2AC8619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2CD81-5CC0-6261-F2C1-327AA45A0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B3AC5-B3E8-3C69-CD26-0019766C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5F81F-B934-92B3-ACD7-E17FB5E4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4AF2C-24F9-299B-5205-F4F8268B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6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1A67-AD49-9EF6-2EAD-B6690D8AB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9D1D1-D9BD-F829-9102-F0927C23A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D0431-0F66-5FB8-D251-CCAF1CC5B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4FBBA-0E6B-9718-4E24-086992DF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A15A7-F75D-0D53-31F5-40180D24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1469F-8C4B-A0C0-BEE8-F479D73B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4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1800B-E921-E1EB-913F-5A8A79D4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7AD80-4B94-AE4F-64E6-7B9F850DF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F80DE-2AAE-3E0C-33FE-FB1601FC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586F3-ED97-0979-BCC0-92F72C3A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FAFA1-E789-D52D-4141-DFF1BC84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34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A7CC09-25CD-E7A0-4B15-ED81CA486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211CA-DC74-431F-1B19-B649B518C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53857-6C56-0E60-CA59-F01E550A62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8D14702B-FD18-854A-A75D-997A34649CD0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2A88-9451-D3BA-0987-F73B3789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104E0-D0A1-B297-E2E0-2854C329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8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6519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69433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3479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87888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4985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39336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37071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07206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33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651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861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3417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62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995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82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599005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11914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FC5D3B8-630A-1119-AA54-4AEBF66587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048" y="16185"/>
            <a:ext cx="3079399" cy="82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E757F-1A9E-AFE5-207D-922778F8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FC60-DAF0-B841-3D7D-1E3798E30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D3BB9-B031-E6F7-EF4B-EA9CDA37A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1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94CEA-ACD9-C341-B1A8-A29349EC6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77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aystack.deepset.ai/docs/human-in-the-loo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4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11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EEA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PERSONAL AI ASSISTANTS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Assistant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457200" y="2194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</a:t>
            </a:r>
            <a:endParaRPr lang="en-US" sz="5600" dirty="0"/>
          </a:p>
        </p:txBody>
      </p:sp>
      <p:sp>
        <p:nvSpPr>
          <p:cNvPr id="30" name="Text 28"/>
          <p:cNvSpPr/>
          <p:nvPr/>
        </p:nvSpPr>
        <p:spPr>
          <a:xfrm>
            <a:off x="457200" y="32461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multi-agent architecture for email and calendar — privacy-first, with a human in every loop.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1065" y="4224529"/>
            <a:ext cx="238397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B8C5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Majid </a:t>
            </a:r>
            <a:r>
              <a:rPr lang="en-US" sz="1000" kern="0" spc="200">
                <a:solidFill>
                  <a:srgbClr val="B8C5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Ahmad Khan,118024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EEA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 ·  Calendar  ·  Privacy-first  ·  HITL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 /  CONTENTS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Six steps from inbox to action — and how each piece earns its place.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1554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email is hard for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121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2350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multi-agent structure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6883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2688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Trigger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29169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starts a run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2552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0120" y="3255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Triage &amp; routing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3483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Supervisor classifies intent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0120" y="3822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Specialist agents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050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and Calendar each own a domain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554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Cross-service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tasks span both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1214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4924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2350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Nothing fires without approval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26883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49240" y="2688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(Mem0)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29169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Personalisation across sessions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32552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49240" y="3255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9240" y="3483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ClawsBench — deterministic, no judge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 /  INTRODUCTION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1371600"/>
            <a:ext cx="36576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1371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of us spend a quarter of our work week on email.(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McKinsey Global Institute (2012</a:t>
            </a:r>
            <a:r>
              <a:rPr lang="en-US" dirty="0"/>
              <a:t>)</a:t>
            </a: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94360" y="1965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Today, we ask a simple question: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an AI handle it for us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269748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Helpful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needs to read the thread, prior context, your calendar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27832" y="3246120"/>
            <a:ext cx="269748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324612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10712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10712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more it reads, the more it could leak or misuse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9904" y="3246120"/>
            <a:ext cx="269748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9904" y="324612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72784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72784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must stay in control of every send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 /  OVERVIEW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multi-agent structure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supervisor routes to specialist agents — each owning a clear domain.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1554480"/>
            <a:ext cx="1828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Inbox trigger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96596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0" y="2194560"/>
            <a:ext cx="4572000" cy="502920"/>
          </a:xfrm>
          <a:prstGeom prst="rect">
            <a:avLst/>
          </a:prstGeom>
          <a:solidFill>
            <a:srgbClr val="EEF7F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0" y="22128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Supervisor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2450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classifies intent → routes to specialist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69748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554480" y="2880360"/>
            <a:ext cx="6035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54480" y="2880360"/>
            <a:ext cx="0" cy="22860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0" y="2880360"/>
            <a:ext cx="0" cy="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89520" y="2880360"/>
            <a:ext cx="0" cy="22860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108960"/>
            <a:ext cx="2194560" cy="640080"/>
          </a:xfrm>
          <a:prstGeom prst="rect">
            <a:avLst/>
          </a:prstGeom>
          <a:solidFill>
            <a:srgbClr val="EAFFFB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127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triage · draft · label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0" y="3108960"/>
            <a:ext cx="2194560" cy="640080"/>
          </a:xfrm>
          <a:prstGeom prst="rect">
            <a:avLst/>
          </a:prstGeom>
          <a:solidFill>
            <a:srgbClr val="FEF7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0" y="3127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Calendar agent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schedule · propose · check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3108960"/>
            <a:ext cx="219456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92240" y="3127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Cross-service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 → Email in sequence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554480" y="374904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0" y="374904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554480" y="3977640"/>
            <a:ext cx="6035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0" y="397764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286000" y="4160520"/>
            <a:ext cx="4572000" cy="411480"/>
          </a:xfrm>
          <a:prstGeom prst="rect">
            <a:avLst/>
          </a:prstGeom>
          <a:solidFill>
            <a:srgbClr val="FEF1F1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286000" y="4160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Human-in-the-loop gate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 /  STEP 1 — TRIGGER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starts a run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trigger types, all produce the same initial agent state.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169164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16916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169164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Webhook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063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Gmail Pub/Sub push notify when new mail arrives. 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27832" y="169164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16916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27832" y="169164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10712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410712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Cron poll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10712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10712" y="3063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scheduler calls for every N minutes and runs the graph for any unseen thread.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9904" y="169164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89904" y="16916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89904" y="169164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72784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72784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ClawsBench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272784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72784" y="3063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benchmark calls the agent directly with a task. Mock Gmail provides the emails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572000"/>
            <a:ext cx="8412480" cy="16459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57200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evaluation, we use option 3.  Production switching to options 1 or 2 happens later — no architecture change required.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 /  STEP 2 — TRIAGE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Supervisor classifies, then routes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the supervisor decides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173736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Reads the latest message in state.messages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24028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Asks the LLM to classify intent as JSON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74320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2743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LangGraph</a:t>
            </a:r>
            <a:r>
              <a:rPr lang="en-US" sz="11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routes to that node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1280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possible routes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37760" y="173736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37760" y="173736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= email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agent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2267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Gmail-only — triage(what is it), draft, label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65176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37760" y="265176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20640" y="2724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= calendar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0640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Calendar agent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0640" y="3182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GCal-only — availability, slot proposal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37760" y="356616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37760" y="3566160"/>
            <a:ext cx="54864" cy="7772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20640" y="3639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= cross_service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Cross-service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120640" y="4096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Both — Cal first, then Email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 /  STEP 3 — SPECIALISTS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agents, two domains, edit into points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specialist has its own tools and ReAct loop. Destructive actions are gated.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1554480"/>
            <a:ext cx="4023360" cy="548640"/>
          </a:xfrm>
          <a:prstGeom prst="rect">
            <a:avLst/>
          </a:prstGeom>
          <a:solidFill>
            <a:srgbClr val="EAFFFB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1554480"/>
            <a:ext cx="73152" cy="5486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agent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Gmail · triage · draft · label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194560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messages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thread(if available)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191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draft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3483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message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393192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9808" y="3867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email(draft id)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1554480"/>
            <a:ext cx="4023360" cy="548640"/>
          </a:xfrm>
          <a:prstGeom prst="rect">
            <a:avLst/>
          </a:prstGeom>
          <a:solidFill>
            <a:srgbClr val="FEF7E6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155448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Calendar agent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98348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GCal · availability · scheduling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194560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events(days)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free and busy times(start, end)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37760" y="3191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 time(attendees, dur)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56048" y="363931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38928" y="3575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event(summary, start, end)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 /  STEP 4 — CROSS-SERVICE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tasks span email and calendar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</a:rPr>
              <a:t>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1280160"/>
            <a:ext cx="320040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1417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EXAMPLE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1691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“Anna emailed asking for a 1-hour sync this week. Find a slot and confirm.”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needs the Calendar agent (find slot) AND the Email agent (draft confirmation).  Neither alone is enough.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1280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Sequential flow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40480" y="173736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5196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Supervisor classifies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1911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intent = cross_service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228600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51960" y="2240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Cross-service handler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51960" y="24597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adds hint to messages, routes to Calendar agent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0" y="283464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0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5196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Calendar agent runs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51960" y="3008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get_free_busy → suggest_time → proposes slot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0" y="338328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25196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agent picks up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51960" y="35570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reads slot from messages, drafts confirmation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3931920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51960" y="3886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HITL gate pauses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51960" y="41056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approve → send_email fires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 /  STEP 5 — HUMAN GATE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Nothing destructive fires without you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863840" cy="91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Haystack Framework. (2025). </a:t>
            </a:r>
            <a:r>
              <a:rPr lang="en-US" sz="800" i="1" dirty="0">
                <a:solidFill>
                  <a:schemeClr val="bg1"/>
                </a:solidFill>
              </a:rPr>
              <a:t>Human-in-the-loop strategies for agent actions</a:t>
            </a:r>
            <a:r>
              <a:rPr lang="en-US" sz="800" dirty="0">
                <a:solidFill>
                  <a:schemeClr val="bg1"/>
                </a:solidFill>
              </a:rPr>
              <a:t>. Haystack documentation. </a:t>
            </a:r>
            <a:r>
              <a:rPr lang="en-US" sz="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https://docs.haystack.deepset.ai/docs/human-in-the-loop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</a:rPr>
              <a:t>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1280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principle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162763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tools are gated.  When the agent calls them, the LangGraph interrupt() pauses execution.  You see the proposed action, choose, and resume.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023360" cy="502920"/>
          </a:xfrm>
          <a:prstGeom prst="rect">
            <a:avLst/>
          </a:prstGeom>
          <a:solidFill>
            <a:srgbClr val="FEF1F1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20040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send_email(draft_id)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023360" cy="502920"/>
          </a:xfrm>
          <a:prstGeom prst="rect">
            <a:avLst/>
          </a:prstGeom>
          <a:solidFill>
            <a:srgbClr val="FEF1F1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79476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create_event(summary, start, end)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280160"/>
            <a:ext cx="402336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PROPOSED 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1691640"/>
            <a:ext cx="3657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 anna@partner.com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Re: project sync this week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2286000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2377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 Anna — Tuesday 10:00–11:00 works on my end. I'll send a calendar invite. — 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337560"/>
            <a:ext cx="1161288" cy="384048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33756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Approve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90488" y="3337560"/>
            <a:ext cx="1161288" cy="384048"/>
          </a:xfrm>
          <a:prstGeom prst="rect">
            <a:avLst/>
          </a:prstGeom>
          <a:solidFill>
            <a:srgbClr val="FEF7E6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90488" y="333756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43216" y="3337560"/>
            <a:ext cx="1161288" cy="384048"/>
          </a:xfrm>
          <a:prstGeom prst="rect">
            <a:avLst/>
          </a:prstGeom>
          <a:solidFill>
            <a:srgbClr val="FEF1F1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43216" y="333756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Reject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3977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LangGraph pauses with interrupt() — your decision arrives via Command(resume='approve' | 'reject').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 /  STEP 6 — 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Personalisation across sessions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solidFill>
            <a:srgbClr val="FEF7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is a feature layer — not benchmarked by ClawsBench.  Custom evaluation needed separately.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1554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memory scopes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196596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196596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User-level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2295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preferences · tone · signature · known contacts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74320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274320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Session-level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072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for the current task or thread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520440"/>
            <a:ext cx="4023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Agent-level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3849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learned shortcuts · standing rules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1554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Example memories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1965960"/>
            <a:ext cx="40233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“always cc finance@ on invoices”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2423160"/>
            <a:ext cx="40233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“use formal tone with external clients”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2880360"/>
            <a:ext cx="40233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“I'm in CET — propose meetings 09:00–17:00”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337560"/>
            <a:ext cx="40233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“never schedule on Fridays after 14:00”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3794760"/>
            <a:ext cx="402336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9204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“Maria prefers Loom over written summaries”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645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 /  STEP 7 — EVALUATION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ClawsBench — deterministic, no judge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95554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Mock services with snapshot/restore.  Final state is compared to expected state.  Pass or fail.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1691640"/>
            <a:ext cx="1993392" cy="12801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1691640"/>
            <a:ext cx="19933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18288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365760" y="25146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Gmail tasks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1691640"/>
            <a:ext cx="1993392" cy="12801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14600" y="1691640"/>
            <a:ext cx="19933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14600" y="18288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2514600" y="25146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Calendar tasks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691640"/>
            <a:ext cx="1993392" cy="12801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691640"/>
            <a:ext cx="19933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18288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4663440" y="25146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Cross-service tasks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1691640"/>
            <a:ext cx="1993392" cy="12801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12280" y="1691640"/>
            <a:ext cx="1993392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12280" y="18288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6812280" y="25146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Safety-critical tasks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ClawsBench tests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685032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3611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capability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3959352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3886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tool-call correctness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233672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160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 constraints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507992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" y="4434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cross-service orchestration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does NOT test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0" y="3685032"/>
            <a:ext cx="91440" cy="914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54880" y="3611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recall (use custom probes)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3959352"/>
            <a:ext cx="91440" cy="914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54880" y="3886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long-term personalisation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0" y="4233672"/>
            <a:ext cx="91440" cy="914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4160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draft tone or quality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0" y="4507992"/>
            <a:ext cx="91440" cy="914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54880" y="4434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anything subjective</a:t>
            </a:r>
            <a:endParaRPr lang="en-US" sz="1100" dirty="0"/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54D2D2D9-D534-6EF3-1D5A-7708017B7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4813714"/>
            <a:ext cx="616386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Abadi MT Condensed Light" panose="020B0306030101010103" pitchFamily="34" charset="77"/>
              </a:rPr>
              <a:t>ClawsBench</a:t>
            </a: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badi MT Condensed Light" panose="020B0306030101010103" pitchFamily="34" charset="77"/>
              </a:rPr>
              <a:t> (2026)</a:t>
            </a:r>
            <a:b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MT Condensed Light" panose="020B0306030101010103" pitchFamily="34" charset="77"/>
              </a:rPr>
            </a:b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badi MT Condensed Light" panose="020B0306030101010103" pitchFamily="34" charset="77"/>
              </a:rPr>
              <a:t>Li, X., Zhang, Y., Chen, L., Wang, H., Liu, J., Zhao, S., Wu, T., Huang, K., Li, M., Yang, Z., Xu, R., Zheng, S., Wang, C., &amp; Zhang, D. (2026).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Abadi MT Condensed Light" panose="020B0306030101010103" pitchFamily="34" charset="77"/>
              </a:rPr>
              <a:t>ClawsBench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badi MT Condensed Light" panose="020B0306030101010103" pitchFamily="34" charset="77"/>
              </a:rPr>
              <a:t>: A benchmark for LLM productivity agents in simulated workspaces. </a:t>
            </a:r>
            <a:r>
              <a:rPr kumimoji="0" lang="en-US" altLang="en-US" sz="600" b="0" i="1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Abadi MT Condensed Light" panose="020B0306030101010103" pitchFamily="34" charset="77"/>
              </a:rPr>
              <a:t>arXiv</a:t>
            </a:r>
            <a:r>
              <a:rPr kumimoji="0" lang="en-US" altLang="en-US" sz="600" b="0" i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badi MT Condensed Light" panose="020B0306030101010103" pitchFamily="34" charset="77"/>
              </a:rPr>
              <a:t> preprint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badi MT Condensed Light" panose="020B0306030101010103" pitchFamily="34" charset="77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MT Condensed Light" panose="020B0306030101010103" pitchFamily="34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4"/>
          <p:cNvSpPr/>
          <p:nvPr/>
        </p:nvSpPr>
        <p:spPr>
          <a:xfrm>
            <a:off x="457200" y="502920"/>
            <a:ext cx="22860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11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EEA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 /  THE STACK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this is built on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457200" y="2011680"/>
            <a:ext cx="3931920" cy="1051560"/>
          </a:xfrm>
          <a:prstGeom prst="rect">
            <a:avLst/>
          </a:prstGeom>
          <a:solidFill>
            <a:srgbClr val="0A1F30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2011680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FRAMEWORK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2304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LangGraph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supervisor + sub-agents · ReAct loops · interrupt-based HITL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2011680"/>
            <a:ext cx="3931920" cy="1051560"/>
          </a:xfrm>
          <a:prstGeom prst="rect">
            <a:avLst/>
          </a:prstGeom>
          <a:solidFill>
            <a:srgbClr val="0A1F30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0" y="2011680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2304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ClawsBench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7548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mock services · 44 tasks · deterministic state-based scoring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3931920" cy="1051560"/>
          </a:xfrm>
          <a:prstGeom prst="rect">
            <a:avLst/>
          </a:prstGeom>
          <a:solidFill>
            <a:srgbClr val="0A1F30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" y="3246120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3538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Mem0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· session · agent scopes · fact extraction layer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3246120"/>
            <a:ext cx="3931920" cy="1051560"/>
          </a:xfrm>
          <a:prstGeom prst="rect">
            <a:avLst/>
          </a:prstGeom>
          <a:solidFill>
            <a:srgbClr val="0A1F30"/>
          </a:solidFill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0" y="3246120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EEA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3538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B8C5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LangGraph</a:t>
            </a:r>
            <a:r>
              <a:rPr lang="en-US" sz="950" dirty="0">
                <a:solidFill>
                  <a:srgbClr val="B8C5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· requests for mock REST APIs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EEA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assistant agent  ·  multi-agent pipeline overview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1112</Words>
  <Application>Microsoft Macintosh PowerPoint</Application>
  <PresentationFormat>On-screen Show (16:9)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Abadi MT Condensed Light</vt:lpstr>
      <vt:lpstr>Aptos</vt:lpstr>
      <vt:lpstr>Aptos Display</vt:lpstr>
      <vt:lpstr>Arial</vt:lpstr>
      <vt:lpstr>Courier New</vt:lpstr>
      <vt:lpstr>Helvetica</vt:lpstr>
      <vt:lpstr>Trebuchet MS</vt:lpstr>
      <vt:lpstr>Custom Design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Assistant — Multi-agent Architecture</dc:title>
  <dc:subject>PptxGenJS Presentation</dc:subject>
  <dc:creator>Sigrow Master's Seminar</dc:creator>
  <cp:lastModifiedBy>Khan, Majid</cp:lastModifiedBy>
  <cp:revision>11</cp:revision>
  <dcterms:created xsi:type="dcterms:W3CDTF">2026-04-30T19:58:26Z</dcterms:created>
  <dcterms:modified xsi:type="dcterms:W3CDTF">2026-05-04T11:19:55Z</dcterms:modified>
</cp:coreProperties>
</file>